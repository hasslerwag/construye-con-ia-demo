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E8622A">
              <a:alpha val="18000"/>
            </a:srgbClr>
          </a:solidFill>
          <a:ln w="12700">
            <a:solidFill>
              <a:srgbClr val="E8622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C94E1A">
              <a:alpha val="25000"/>
            </a:srgbClr>
          </a:solidFill>
          <a:ln w="12700">
            <a:solidFill>
              <a:srgbClr val="C94E1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Profundidad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· OLAP · ERD · Modelado · Formas Normales · Star Schema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80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Hassler Castro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4480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con IA  ·  Sesión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veremos hoy?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8016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371600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280160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resuelven las bases de datos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39903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5623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1947672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856232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transacciones en tiempo real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63840" y="1975104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9751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43230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2523744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432304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análisis a gran escala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863840" y="2551176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5511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008376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0083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099816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008376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— modelado visual con Sakila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312724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31272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584448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58444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88720" y="3675888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3584448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Normales — cómo estructurar bien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863840" y="370332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703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160520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1605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88720" y="4251960"/>
            <a:ext cx="27432" cy="329184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4160520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modelado para OLAP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863840" y="427939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42793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estructura, los datos son ruido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convierte caos en información accionable.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estructura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Juan|Bogotá|Camiseta azul|$50|2024-01-15|pagado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6334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Maria,Medellín,Zapatos,30,ene 15,,pendiente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0906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 - Cali - Camiseta - 50 dolares - pagó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35478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juan@mail.com,Camiseta azul talla M,$50.00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40050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 GARCIA,BOG,SKU-001,50,15/01/24,OK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422452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vendiste en enero?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únicos?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producto más vendido?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Imposible responder.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estructura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64608" y="2176272"/>
            <a:ext cx="411480" cy="25603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2176272"/>
            <a:ext cx="822960" cy="25603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2176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99048" y="2176272"/>
            <a:ext cx="777240" cy="25603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76288" y="2176272"/>
            <a:ext cx="658368" cy="25603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2176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34656" y="2176272"/>
            <a:ext cx="777240" cy="25603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64608" y="2450592"/>
            <a:ext cx="41148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450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76088" y="2450592"/>
            <a:ext cx="82296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2450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 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9048" y="2450592"/>
            <a:ext cx="77724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24505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Bogotá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76288" y="2450592"/>
            <a:ext cx="658368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2450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34656" y="2450592"/>
            <a:ext cx="77724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4656" y="24505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4608" y="2688336"/>
            <a:ext cx="411480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688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76088" y="2688336"/>
            <a:ext cx="822960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26883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 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99048" y="2688336"/>
            <a:ext cx="777240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9048" y="2688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Medellín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76288" y="2688336"/>
            <a:ext cx="658368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688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34656" y="2688336"/>
            <a:ext cx="777240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2688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64608" y="2926080"/>
            <a:ext cx="41148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926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76088" y="2926080"/>
            <a:ext cx="82296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76088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 R.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99048" y="2926080"/>
            <a:ext cx="77724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99048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6288" y="2926080"/>
            <a:ext cx="658368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29260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34656" y="2926080"/>
            <a:ext cx="777240" cy="237744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4656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pagado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92040" y="3273552"/>
            <a:ext cx="3639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ciudad, SUM(monto)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pedidos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estado = 'pagado'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ciudad;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92040" y="413308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Respuesta en milisegundos.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 Processing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detrás de cada operación en tiempo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base de datos diseñado para gestionar grandes volúmenes de transacciones cortas e individuales en tiempo real. Cada operación es atómica: o se completa del todo, o no se hace nada (principio ACID).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15000" y="1481328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DE8DC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6093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0448" y="199339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Muchas escrituras simultáneas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70448" y="216712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Transacciones cortas (ms)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70448" y="234086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Consistencia crítica (ACID)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0448" y="25146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Orientado a filas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268833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Alta concurrencia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61288" y="30540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328416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Transferencias, depósitos, retiros en tiempo real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99232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04688" y="30540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3328416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órdenes, actualizar inventario, procesar pagos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0390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80390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61288" y="3858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SaaS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" y="413308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crear contenido, actualizar perfil de usuario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80390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80390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04688" y="3858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413308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vuelos, entradas a eventos, sin doble venta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· VENTAJAS Y DESVENTAJAS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Lo que hace bien y lo que 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Ventajas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Velocidad en escritura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 de registros individuales son ultrarrápidos.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Integridad garantizada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asegura que ninguna transacción quede a medias.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Alta concurrencia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usuarios simultáneos sin conflictos.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Flexibilidad operacional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actualizar, insertar y eliminar registros.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59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Escalable horizontalmente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288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agregar más servidores de escritura.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Desventajas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Malo para análisis masivos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query que suma millones de filas bloquea la DB.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5237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Joins costosos a escala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normalizadas son lentas con big data.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35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optimizado para lectura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264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orientado a filas lee datos innecesarios.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547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Difícil de escalar analítica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columnas para análisis rompe el diseño OLTP.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059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Historial limitado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4288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diseñado para guardar años de datos planos.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detrás de cada decisión basada en datos.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diseñado para consultas analíticas complejas sobre grandes volúmenes de datos históricos. En lugar de manejar transacciones individuales, agrupa, resume y cruza millones de registros para responder preguntas de negocio.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15000" y="1481328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6093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0448" y="199339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Lectura masiva, pocas escrituras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70448" y="216712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Queries complejos (segundos/mins)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70448" y="234086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Columnar storage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0448" y="25146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Desnormalizado (Star Schema)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268833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Optimizado para agregaciones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61288" y="30540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328416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ventas, revenue por región, tendencias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99232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04688" y="30540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financieros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3328416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mensual, análisis de costos, proyecciones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0390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80390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61288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" y="413308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Redshift, Snowflake — petabytes de datos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80390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80390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04688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413308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por canal, CAC, LTV de clientes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· VENTAJAS Y DESVENTAJAS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Lo que hace bien y lo que 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Ventajas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Queries analíticos rapidísimos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millones de filas en segundos gracias a columnar.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Compresión eficiente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del mismo tipo se comprimen hasta 10x.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Escalable a petabytes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crecer sin degradar performance.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Ideal para BI y 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dashboards, modelos predictivos y reportes.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59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Historial completo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288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años de datos sin afectar el sistema operacional.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Desventajas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Malo para escrituras frecuentes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individual es lento — no es su propósito.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5237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transaccional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garantías ACID para operaciones individuales.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35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Latencia inicial alta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264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(ETL) toma tiempo y recursos.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547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Datos no siempre frescos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actualizado en batch, no en tiempo real.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059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Costo más alto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4288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Redshift cobran por query o por capacidad.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· COMPARACIÓN DIRECTA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que te vas a tatuar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468880" cy="32918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298448"/>
            <a:ext cx="3017520" cy="32918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298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298448"/>
            <a:ext cx="278892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2984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64592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del día a día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inteligencia de negocio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46888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21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para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2121408"/>
            <a:ext cx="30175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12140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rápida (INSERT/UPDATE)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121408"/>
            <a:ext cx="27889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21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masiva (SELECT + agregaciones)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96896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9689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query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54680" y="2596896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59689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Corto, puntual, una fila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596896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596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Complejo, miles/millones de filas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72384"/>
            <a:ext cx="246888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0723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154680" y="3072384"/>
            <a:ext cx="30175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07238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filas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3072384"/>
            <a:ext cx="27889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072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columnas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547872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47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154680" y="3547872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5478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estricto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54787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/ batch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023360"/>
            <a:ext cx="246888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típica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154680" y="4023360"/>
            <a:ext cx="30175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4023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 TB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4023360"/>
            <a:ext cx="27889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a PB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498848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498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154680" y="4498848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449884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users, sistemas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63640" y="4498848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4988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Analistas, data scientists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4974336"/>
            <a:ext cx="246888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9743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154680" y="4974336"/>
            <a:ext cx="30175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497433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MySQL, Oracle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4974336"/>
            <a:ext cx="2788920" cy="457200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49743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Redshift, Snowflake, ClickHouse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INTRODUCCIÓN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arquitectónico de tu base de datos. Lo que diseñas antes de escribir una sola línea de SQL.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4114800" cy="1389888"/>
          </a:xfrm>
          <a:prstGeom prst="roundRect">
            <a:avLst>
              <a:gd name="adj" fmla="val 7895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901952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2728" y="1938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235915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"cosa" del mundo real que quieres modelar. Ejemplo: Usuario, Producto, Pedido. En SQL se convierte en una tabla.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4114800" cy="1389888"/>
          </a:xfrm>
          <a:prstGeom prst="roundRect">
            <a:avLst>
              <a:gd name="adj" fmla="val 7895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190195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96128" y="1938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235915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característica de la entidad. Ejemplo: un Usuario tiene nombre, email, fecha de registro. En SQL son las columnas.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4114800" cy="1389888"/>
          </a:xfrm>
          <a:prstGeom prst="roundRect">
            <a:avLst>
              <a:gd name="adj" fmla="val 7895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410712"/>
            <a:ext cx="457200" cy="4572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2728" y="3447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" y="386791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las entidades entre sí. Ejemplo: un Usuario hace muchos Pedidos. Define las foreign keys.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4114800" cy="1389888"/>
          </a:xfrm>
          <a:prstGeom prst="roundRect">
            <a:avLst>
              <a:gd name="adj" fmla="val 7895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10912" y="3410712"/>
            <a:ext cx="457200" cy="457200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3447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10912" y="386791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Crow's Foot: la más común en la industria. Una línea entre entidades con símbolos que indican la cardinalidad (1:1, 1:N, N:M).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CARDINALIDAD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relaciones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cardinalidad define cuántas instancias de una entidad se relacionan con otra.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051560" cy="1078992"/>
          </a:xfrm>
          <a:prstGeom prst="roundRect">
            <a:avLst>
              <a:gd name="adj" fmla="val 8696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19072" y="169164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691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011680"/>
            <a:ext cx="457200" cy="3657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911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691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581912"/>
            <a:ext cx="3776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tiene exactamente un perfil. Un perfil pertenece a exactamente un usuario.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2075688"/>
            <a:ext cx="3776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Cuando quieres separar datos sensibles o poco usados de la entidad principal.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1051560" cy="1078992"/>
          </a:xfrm>
          <a:prstGeom prst="roundRect">
            <a:avLst>
              <a:gd name="adj" fmla="val 8696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719072" y="292608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246120"/>
            <a:ext cx="4572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31455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93008" y="292608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816352"/>
            <a:ext cx="3776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puede tener muchos pedidos. Cada pedido pertenece a un solo cliente.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3310128"/>
            <a:ext cx="3776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más común en OLTP. La FK va en el lado "muchos" (en la tabla Pedidos).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1051560" cy="1078992"/>
          </a:xfrm>
          <a:prstGeom prst="roundRect">
            <a:avLst>
              <a:gd name="adj" fmla="val 8696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77640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719072" y="416052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9072" y="4160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17520" y="4480560"/>
            <a:ext cx="45720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4379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93008" y="4160520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4160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4050792"/>
            <a:ext cx="3776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puede tomar muchos cursos. Un curso puede tener muchos estudiantes.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4544568"/>
            <a:ext cx="3776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Requiere una tabla intermedia (pivot table) con las FKs de ambos lados.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SAKILA DATABASE (SIMPLIFICADO)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Sakila — Tienda de alquiler de películas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versión resumida de la DB de ejemplo de MySQL — estructura idéntica a una app de e-commerce moderna.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828800" cy="1883664"/>
          </a:xfrm>
          <a:prstGeom prst="roundRect">
            <a:avLst>
              <a:gd name="adj" fmla="val 5000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44752"/>
            <a:ext cx="1828800" cy="3474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1828800" cy="208483"/>
          </a:xfrm>
          <a:prstGeom prst="roundRect">
            <a:avLst>
              <a:gd name="adj" fmla="val 43860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first_name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2304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last_name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5603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8163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0723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1444752"/>
            <a:ext cx="1828800" cy="1883664"/>
          </a:xfrm>
          <a:prstGeom prst="roundRect">
            <a:avLst>
              <a:gd name="adj" fmla="val 5000"/>
            </a:avLst>
          </a:prstGeom>
          <a:solidFill>
            <a:srgbClr val="2D2D3E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444752"/>
            <a:ext cx="182880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1444752"/>
            <a:ext cx="1828800" cy="208483"/>
          </a:xfrm>
          <a:prstGeom prst="roundRect">
            <a:avLst>
              <a:gd name="adj" fmla="val 43860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22592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42048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film_id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2048256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42048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2048" y="2304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2560320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42048" y="25603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release_year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2259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42048" y="28163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9440" y="3072384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42048" y="30723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rental_rate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1508760"/>
            <a:ext cx="1737360" cy="1115568"/>
          </a:xfrm>
          <a:prstGeom prst="roundRect">
            <a:avLst>
              <a:gd name="adj" fmla="val 8197"/>
            </a:avLst>
          </a:prstGeom>
          <a:solidFill>
            <a:srgbClr val="2D2D3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1508760"/>
            <a:ext cx="1737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1508760"/>
            <a:ext cx="1737360" cy="208483"/>
          </a:xfrm>
          <a:prstGeom prst="roundRect">
            <a:avLst>
              <a:gd name="adj" fmla="val 4386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90872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10328" y="18562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inventory_id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2112264"/>
            <a:ext cx="173736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10328" y="21122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film_id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90872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10328" y="23682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17520" y="2880360"/>
            <a:ext cx="1828800" cy="1883664"/>
          </a:xfrm>
          <a:prstGeom prst="roundRect">
            <a:avLst>
              <a:gd name="adj" fmla="val 5000"/>
            </a:avLst>
          </a:prstGeom>
          <a:solidFill>
            <a:srgbClr val="2D2D3E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0" y="2880360"/>
            <a:ext cx="1828800" cy="347472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2880360"/>
            <a:ext cx="1828800" cy="208483"/>
          </a:xfrm>
          <a:prstGeom prst="roundRect">
            <a:avLst>
              <a:gd name="adj" fmla="val 43860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090672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10128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rental_id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17520" y="3483864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90672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10128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rental_date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090672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310128" y="37398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return_date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17520" y="3995928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0672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310128" y="39959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inventory_id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090672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310128" y="42519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017520" y="4507992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90672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310128" y="4507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staff_id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035040" y="2880360"/>
            <a:ext cx="1828800" cy="1883664"/>
          </a:xfrm>
          <a:prstGeom prst="roundRect">
            <a:avLst>
              <a:gd name="adj" fmla="val 5000"/>
            </a:avLst>
          </a:prstGeom>
          <a:solidFill>
            <a:srgbClr val="2D2D3E"/>
          </a:solidFill>
          <a:ln w="12700">
            <a:solidFill>
              <a:srgbClr val="C94E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2880360"/>
            <a:ext cx="1828800" cy="347472"/>
          </a:xfrm>
          <a:prstGeom prst="rect">
            <a:avLst/>
          </a:prstGeom>
          <a:solidFill>
            <a:srgbClr val="C94E1A"/>
          </a:solidFill>
          <a:ln w="12700">
            <a:solidFill>
              <a:srgbClr val="C94E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5040" y="2880360"/>
            <a:ext cx="1828800" cy="208483"/>
          </a:xfrm>
          <a:prstGeom prst="roundRect">
            <a:avLst>
              <a:gd name="adj" fmla="val 43860"/>
            </a:avLst>
          </a:prstGeom>
          <a:solidFill>
            <a:srgbClr val="C94E1A"/>
          </a:solidFill>
          <a:ln w="12700">
            <a:solidFill>
              <a:srgbClr val="C94E1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3504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108192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327648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035040" y="3483864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08192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327648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108192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327648" y="37398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staff_id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035040" y="3995928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08192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327648" y="39959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rental_id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108192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27648" y="42519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035040" y="4507992"/>
            <a:ext cx="182880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08192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27648" y="4507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payment_date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65760" y="3246120"/>
            <a:ext cx="1691640" cy="1115568"/>
          </a:xfrm>
          <a:prstGeom prst="roundRect">
            <a:avLst>
              <a:gd name="adj" fmla="val 8197"/>
            </a:avLst>
          </a:prstGeom>
          <a:solidFill>
            <a:srgbClr val="2D2D3E"/>
          </a:solidFill>
          <a:ln w="12700">
            <a:solidFill>
              <a:srgbClr val="9094A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5760" y="3246120"/>
            <a:ext cx="1691640" cy="347472"/>
          </a:xfrm>
          <a:prstGeom prst="rect">
            <a:avLst/>
          </a:prstGeom>
          <a:solidFill>
            <a:srgbClr val="9094A0"/>
          </a:solidFill>
          <a:ln w="12700">
            <a:solidFill>
              <a:srgbClr val="9094A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5760" y="3246120"/>
            <a:ext cx="1691640" cy="208483"/>
          </a:xfrm>
          <a:prstGeom prst="roundRect">
            <a:avLst>
              <a:gd name="adj" fmla="val 43860"/>
            </a:avLst>
          </a:prstGeom>
          <a:solidFill>
            <a:srgbClr val="9094A0"/>
          </a:solidFill>
          <a:ln w="12700">
            <a:solidFill>
              <a:srgbClr val="9094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3246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438912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58368" y="359359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staff_id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65760" y="3849624"/>
            <a:ext cx="1691640" cy="256032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58368" y="384962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first_name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43891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58368" y="410565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234440" y="2944368"/>
            <a:ext cx="1801368" cy="36576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4846320" y="2971800"/>
            <a:ext cx="237744" cy="109728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55080" y="1874520"/>
            <a:ext cx="594360" cy="36576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46320" y="3246120"/>
            <a:ext cx="1207008" cy="36576"/>
          </a:xfrm>
          <a:prstGeom prst="line">
            <a:avLst/>
          </a:prstGeom>
          <a:noFill/>
          <a:ln w="19050">
            <a:solidFill>
              <a:srgbClr val="C94E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3429000"/>
            <a:ext cx="978408" cy="274320"/>
          </a:xfrm>
          <a:prstGeom prst="line">
            <a:avLst/>
          </a:prstGeom>
          <a:noFill/>
          <a:ln w="19050">
            <a:solidFill>
              <a:srgbClr val="9094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PK = Primary Key (identificador único)    🔗 FK = Foreign Key (referencia a otra tabla)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NORMALES · 1NF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Forma Normal (1NF)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contiene un único valor atómico. Sin grupos repetidos. Sin arrays en columnas.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FDE8DC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debe contener valores atómicos (indivisibles), y cada fila debe ser única.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Violando 1NF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880360"/>
            <a:ext cx="68580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80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44168" y="2880360"/>
            <a:ext cx="100584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4168" y="2880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50008" y="2880360"/>
            <a:ext cx="192024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880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productos_comprados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136392"/>
            <a:ext cx="68580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363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44168" y="3136392"/>
            <a:ext cx="100584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4168" y="3136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50008" y="3136392"/>
            <a:ext cx="192024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3136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Camiseta, Pantalón, Zapatos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" y="3392424"/>
            <a:ext cx="685800" cy="237744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924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44168" y="3392424"/>
            <a:ext cx="1005840" cy="237744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3392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50008" y="3392424"/>
            <a:ext cx="1920240" cy="237744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Vestido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" y="3648456"/>
            <a:ext cx="68580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484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44168" y="3648456"/>
            <a:ext cx="100584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168" y="3648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50008" y="3648456"/>
            <a:ext cx="192024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0008" y="3648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Camisa, Corbata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43434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Una celda con múltiples valores — no puedes filtrar por producto individual.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Cumpliendo 1NF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4608" y="2880360"/>
            <a:ext cx="685800" cy="237744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880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50408" y="2880360"/>
            <a:ext cx="1005840" cy="237744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0408" y="2880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56248" y="2880360"/>
            <a:ext cx="1920240" cy="237744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2880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4608" y="3136392"/>
            <a:ext cx="68580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136392"/>
            <a:ext cx="685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50408" y="3136392"/>
            <a:ext cx="10058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0408" y="3136392"/>
            <a:ext cx="1005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56248" y="3136392"/>
            <a:ext cx="19202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136392"/>
            <a:ext cx="1920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Camiseta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64608" y="3378708"/>
            <a:ext cx="68580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378708"/>
            <a:ext cx="685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50408" y="3378708"/>
            <a:ext cx="100584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0408" y="3378708"/>
            <a:ext cx="1005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56248" y="3378708"/>
            <a:ext cx="192024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56248" y="3378708"/>
            <a:ext cx="1920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Pantalón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64608" y="3621024"/>
            <a:ext cx="68580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3621024"/>
            <a:ext cx="685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50408" y="3621024"/>
            <a:ext cx="10058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50408" y="3621024"/>
            <a:ext cx="1005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56248" y="3621024"/>
            <a:ext cx="19202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56248" y="3621024"/>
            <a:ext cx="1920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Zapatos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64608" y="3863340"/>
            <a:ext cx="68580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4608" y="3863340"/>
            <a:ext cx="685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50408" y="3863340"/>
            <a:ext cx="100584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50408" y="3863340"/>
            <a:ext cx="1005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556248" y="3863340"/>
            <a:ext cx="1920240" cy="233172"/>
          </a:xfrm>
          <a:prstGeom prst="rect">
            <a:avLst/>
          </a:prstGeom>
          <a:solidFill>
            <a:srgbClr val="F8FFFA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6248" y="3863340"/>
            <a:ext cx="1920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Vestido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64608" y="4105656"/>
            <a:ext cx="68580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64608" y="4105656"/>
            <a:ext cx="685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550408" y="4105656"/>
            <a:ext cx="10058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0408" y="4105656"/>
            <a:ext cx="1005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556248" y="4105656"/>
            <a:ext cx="1920240" cy="233172"/>
          </a:xfrm>
          <a:prstGeom prst="rect">
            <a:avLst/>
          </a:prstGeom>
          <a:solidFill>
            <a:srgbClr val="F0FFF4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56248" y="4105656"/>
            <a:ext cx="1920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64608" y="43434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Ahora puedes filtrar, contar y agrupar por producto fácilmente.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NORMALES · 2NF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Forma Normal (2NF)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1NF + cada columna no-clave depende de la clave completa, no de una parte.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cuando la PK es compuesta. Ninguna columna debe depender solo de UNA parte de esa PK.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Violando 2NF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9077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compuesta: (pedido_id + producto_id)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3182112"/>
            <a:ext cx="749808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821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08176" y="3182112"/>
            <a:ext cx="822960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3182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producto_id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31136" y="3182112"/>
            <a:ext cx="566928" cy="237744"/>
          </a:xfrm>
          <a:prstGeom prst="rect">
            <a:avLst/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98064" y="3182112"/>
            <a:ext cx="141732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3182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nombre_prod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3438144"/>
            <a:ext cx="74980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381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08176" y="3438144"/>
            <a:ext cx="822960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176" y="3438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31136" y="3438144"/>
            <a:ext cx="56692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343814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98064" y="3438144"/>
            <a:ext cx="1417320" cy="228600"/>
          </a:xfrm>
          <a:prstGeom prst="rect">
            <a:avLst/>
          </a:prstGeom>
          <a:solidFill>
            <a:srgbClr val="3D1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3438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Camiseta Azul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3675888"/>
            <a:ext cx="74980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6758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08176" y="3675888"/>
            <a:ext cx="822960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08176" y="3675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31136" y="3675888"/>
            <a:ext cx="56692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1136" y="36758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98064" y="3675888"/>
            <a:ext cx="1417320" cy="228600"/>
          </a:xfrm>
          <a:prstGeom prst="rect">
            <a:avLst/>
          </a:prstGeom>
          <a:solidFill>
            <a:srgbClr val="3D1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3675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Pantalón Negro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3913632"/>
            <a:ext cx="74980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9136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08176" y="3913632"/>
            <a:ext cx="822960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8176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31136" y="3913632"/>
            <a:ext cx="566928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31136" y="39136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98064" y="3913632"/>
            <a:ext cx="1417320" cy="228600"/>
          </a:xfrm>
          <a:prstGeom prst="rect">
            <a:avLst/>
          </a:prstGeom>
          <a:solidFill>
            <a:srgbClr val="3D1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8064" y="3913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Camiseta Azul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" y="44988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"Camiseta Azul" se repite. nombre_prod depende solo de producto_id, no del pedido.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487168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Cumpliendo 2NF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64608" y="29077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Separamos productos en su propia tabla: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64608" y="31455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detalle_pedido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64608" y="3346704"/>
            <a:ext cx="749808" cy="219456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3467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14416" y="3346704"/>
            <a:ext cx="658368" cy="219456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416" y="33467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prod_id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72784" y="3346704"/>
            <a:ext cx="749808" cy="219456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72784" y="33467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64608" y="3584448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358444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614416" y="3584448"/>
            <a:ext cx="65836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14416" y="35844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72784" y="3584448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358444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3803904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80390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14416" y="3803904"/>
            <a:ext cx="65836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14416" y="3803904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P02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72784" y="3803904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72784" y="380390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64608" y="4023360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402336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614416" y="4023360"/>
            <a:ext cx="65836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14416" y="40233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72784" y="4023360"/>
            <a:ext cx="749808" cy="210312"/>
          </a:xfrm>
          <a:prstGeom prst="rect">
            <a:avLst/>
          </a:prstGeom>
          <a:solidFill>
            <a:srgbClr val="15251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72784" y="402336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446520" y="31455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46520" y="3346704"/>
            <a:ext cx="658368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33467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prod_id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104888" y="3346704"/>
            <a:ext cx="1234440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04888" y="33467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446520" y="3584448"/>
            <a:ext cx="658368" cy="210312"/>
          </a:xfrm>
          <a:prstGeom prst="rect">
            <a:avLst/>
          </a:prstGeom>
          <a:solidFill>
            <a:srgbClr val="15153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46520" y="35844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104888" y="3584448"/>
            <a:ext cx="1234440" cy="210312"/>
          </a:xfrm>
          <a:prstGeom prst="rect">
            <a:avLst/>
          </a:prstGeom>
          <a:solidFill>
            <a:srgbClr val="15153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04888" y="35844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Camiseta Azul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446520" y="3803904"/>
            <a:ext cx="658368" cy="210312"/>
          </a:xfrm>
          <a:prstGeom prst="rect">
            <a:avLst/>
          </a:prstGeom>
          <a:solidFill>
            <a:srgbClr val="15153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46520" y="3803904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P02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104888" y="3803904"/>
            <a:ext cx="1234440" cy="210312"/>
          </a:xfrm>
          <a:prstGeom prst="rect">
            <a:avLst/>
          </a:prstGeom>
          <a:solidFill>
            <a:srgbClr val="151535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04888" y="380390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Pantalón Negro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864608" y="44988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Sin duplicación. Si cambia el nombre, se actualiza en un solo lugar.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NORMALES · 3NF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Forma Normal (3NF)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2NF + ninguna columna no-clave depende de otra columna no-clave.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FDE8DC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debe depender SOLO de la PK — no de otras columnas. Elimina dependencias transitivas.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42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Violando 3NF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8712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pedido_id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3127248"/>
            <a:ext cx="749808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272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08176" y="3127248"/>
            <a:ext cx="731520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3127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39696" y="3127248"/>
            <a:ext cx="804672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31272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ciudad_cli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44368" y="3127248"/>
            <a:ext cx="749808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31272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pais_cli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" y="3383280"/>
            <a:ext cx="749808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83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408176" y="3383280"/>
            <a:ext cx="731520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176" y="3383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39696" y="3383280"/>
            <a:ext cx="804672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33832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Bogotá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44368" y="3383280"/>
            <a:ext cx="749808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3383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Colombia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3621024"/>
            <a:ext cx="749808" cy="228600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6210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408176" y="3621024"/>
            <a:ext cx="731520" cy="228600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08176" y="36210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39696" y="3621024"/>
            <a:ext cx="804672" cy="228600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362102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Bogotá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44368" y="3621024"/>
            <a:ext cx="749808" cy="228600"/>
          </a:xfrm>
          <a:prstGeom prst="rect">
            <a:avLst/>
          </a:prstGeom>
          <a:solidFill>
            <a:srgbClr val="FFF8F8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44368" y="36210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Colombia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" y="3858768"/>
            <a:ext cx="749808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85876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408176" y="3858768"/>
            <a:ext cx="731520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8176" y="3858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39696" y="3858768"/>
            <a:ext cx="804672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9696" y="385876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44368" y="3858768"/>
            <a:ext cx="749808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44368" y="385876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Perú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8368" y="4315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ciudad y país dependen de cliente_id, no de pedido_id. Si el cliente cambia de ciudad → hay que actualizar miles de pedidos.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450592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542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Cumpliendo 3NF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64608" y="28712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Extraemos clientes a su propia tabla: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64608" y="30906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64608" y="3310128"/>
            <a:ext cx="749808" cy="21945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3101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14416" y="3310128"/>
            <a:ext cx="749808" cy="21945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416" y="33101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64608" y="3547872"/>
            <a:ext cx="749808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54787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14416" y="3547872"/>
            <a:ext cx="749808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14416" y="354787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64608" y="3767328"/>
            <a:ext cx="74980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76732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14416" y="3767328"/>
            <a:ext cx="74980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14416" y="376732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3986784"/>
            <a:ext cx="749808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98678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14416" y="3986784"/>
            <a:ext cx="749808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14416" y="398678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19088" y="3090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419088" y="3310128"/>
            <a:ext cx="548640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19088" y="33101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cli_id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967728" y="3310128"/>
            <a:ext cx="777240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67728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744968" y="3310128"/>
            <a:ext cx="749808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44968" y="33101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419088" y="3547872"/>
            <a:ext cx="548640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9088" y="35478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967728" y="3547872"/>
            <a:ext cx="777240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67728" y="354787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Bogotá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744968" y="3547872"/>
            <a:ext cx="749808" cy="210312"/>
          </a:xfrm>
          <a:prstGeom prst="rect">
            <a:avLst/>
          </a:prstGeom>
          <a:solidFill>
            <a:srgbClr val="FAF8F6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44968" y="354787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Colombia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419088" y="3767328"/>
            <a:ext cx="5486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9088" y="376732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C02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967728" y="3767328"/>
            <a:ext cx="7772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67728" y="376732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744968" y="3767328"/>
            <a:ext cx="74980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44968" y="376732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Perú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864608" y="4315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 un cliente cambia de ciudad, se actualiza en un solo lugar — no en cada pedido.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NORMALES · BENEFICIOS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normalizar?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ejercicio académico — es lo que evita que tu app se rompa a escala.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56232"/>
            <a:ext cx="420624" cy="420624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7864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8600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vive en un solo lugar. Actualizar el nombre de una ciudad toca una fila, no diez mil.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1856232"/>
            <a:ext cx="420624" cy="4206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78224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28600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foreign keys garantizan que no puedes tener un pedido para un cliente que no existe.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1856232"/>
            <a:ext cx="420624" cy="420624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8584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para cambios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228600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columna a "clientes" no requiere tocar "pedidos". El modelo escala sin reescribirse.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410712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7864" y="3429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más precisos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384048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pequeñas y bien definidas son más fáciles de consultar, indexar y optimizar.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2461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7872" y="3410712"/>
            <a:ext cx="420624" cy="42062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78224" y="3429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NO normalizar?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47872" y="384048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OLAP y reportes analíticos se desnormaliza a propósito — el siguiente tema explica por qué.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2461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3410712"/>
            <a:ext cx="420624" cy="42062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58584" y="3429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28232" y="384048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OLTP, apunta a 3NF. Para OLAP y dashboards, el Star Schema intencionalmente rompe estas reglas.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· STAR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Modelado para análisis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OLAP se desnormaliza a propósito. La velocidad de lectura importa más que la integridad transaccional.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37560" y="1874520"/>
            <a:ext cx="2468880" cy="2148840"/>
          </a:xfrm>
          <a:prstGeom prst="roundRect">
            <a:avLst>
              <a:gd name="adj" fmla="val 5106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37560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01568" y="28803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venta_id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01568" y="30540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fecha_id (FK)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01568" y="32278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producto_id (FK)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01568" y="34015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 (FK)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1568" y="35753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region_id (FK)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01568" y="37490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1568" y="3922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261872"/>
            <a:ext cx="201168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261872"/>
            <a:ext cx="201168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261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048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trimestre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267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487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27066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48840" y="2212848"/>
            <a:ext cx="1188720" cy="18288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261872"/>
            <a:ext cx="20116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261872"/>
            <a:ext cx="2011680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261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producto_id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2048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categoría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267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subcategoría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2487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5806440" y="2212848"/>
            <a:ext cx="868680" cy="18288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246120"/>
            <a:ext cx="20116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246120"/>
            <a:ext cx="2011680" cy="310896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246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dim_cliente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3813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país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4714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V="1">
            <a:off x="2148840" y="3310128"/>
            <a:ext cx="1188720" cy="210312"/>
          </a:xfrm>
          <a:prstGeom prst="line">
            <a:avLst/>
          </a:prstGeom>
          <a:noFill/>
          <a:ln w="19050">
            <a:solidFill>
              <a:srgbClr val="2A9D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3246120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3246120"/>
            <a:ext cx="2011680" cy="310896"/>
          </a:xfrm>
          <a:prstGeom prst="rect">
            <a:avLst/>
          </a:prstGeom>
          <a:solidFill>
            <a:srgbClr val="C94E1A"/>
          </a:solidFill>
          <a:ln w="12700">
            <a:solidFill>
              <a:srgbClr val="C94E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246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813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país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66560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 flipH="1" flipV="1">
            <a:off x="5806440" y="3310128"/>
            <a:ext cx="868680" cy="210312"/>
          </a:xfrm>
          <a:prstGeom prst="line">
            <a:avLst/>
          </a:prstGeom>
          <a:noFill/>
          <a:ln w="19050">
            <a:solidFill>
              <a:srgbClr val="C94E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681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Cada dimensión se une a la tabla de hechos con una FK. Los análisis agregan la tabla de hechos y filtran por dimensiones.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· STAR SCHEMA VS SNOWFLAKE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vs Snowflake Schema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modelar para OLAP. La diferencia es cuánto normalizas las dimensiones.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 Schema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desnormalizadas — todo en una tabla plana.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más simples y rápidos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7523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523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entender para analistas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1729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172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JOINs necesarios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593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593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de duplicación en dimensiones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0142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0142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grandes pueden crecer mucho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priorizas velocidad de queries y simplicidad. Es el más común.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481328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591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Snowflake Schema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64608" y="1956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normalizadas — sub-dimensiones separadas.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4608" y="2331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duplicación en dimensiones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7523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7523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espacio en disco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1729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172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fácil de mantener dimensiones grandes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93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593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más complejos (más JOINs)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40142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40142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difícil para analistas sin SQL avanzado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las dimensiones cambian frecuentemente o son muy grandes.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286000"/>
            <a:ext cx="4114800" cy="4114800"/>
          </a:xfrm>
          <a:prstGeom prst="ellipse">
            <a:avLst/>
          </a:prstGeom>
          <a:solidFill>
            <a:srgbClr val="E8622A">
              <a:alpha val="15000"/>
            </a:srgbClr>
          </a:solidFill>
          <a:ln w="12700">
            <a:solidFill>
              <a:srgbClr val="E8622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6583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6583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6583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6583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6583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6583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11155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· 2NF · 3NF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1155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1155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D2D3E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17190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semana: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208483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— Dónde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tu código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· Serverless · Cloud · Deploy · Railway · Vercel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8321040" cy="1005840"/>
          </a:xfrm>
          <a:prstGeom prst="roundRect">
            <a:avLst>
              <a:gd name="adj" fmla="val 10909"/>
            </a:avLst>
          </a:prstGeom>
          <a:solidFill>
            <a:srgbClr val="2D2D3E"/>
          </a:solidFill>
          <a:ln w="12700">
            <a:solidFill>
              <a:srgbClr val="2D2D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877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Tarea para la próxima sesión: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Diseña el ERD de tu proyecto: entidades, atributos y relaciones.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Identifica si tu sistema es OLTP, OLAP o ambos — y por qué.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 al menos 1NF y 2NF a tu modelo. Trae preguntas.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2026-08-03T20:56:50Z</dcterms:created>
  <dcterms:modified xsi:type="dcterms:W3CDTF">2026-08-03T20:56:50Z</dcterms:modified>
</cp:coreProperties>
</file>